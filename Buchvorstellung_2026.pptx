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670550" cx="10080625"/>
  <p:notesSz cx="7559675" cy="10691800"/>
  <p:embeddedFontLst>
    <p:embeddedFont>
      <p:font typeface="Caveat"/>
      <p:regular r:id="rId15"/>
      <p:bold r:id="rId16"/>
    </p:embeddedFont>
    <p:embeddedFont>
      <p:font typeface="Tahoma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Caveat-regular.fntdata"/><Relationship Id="rId14" Type="http://schemas.openxmlformats.org/officeDocument/2006/relationships/slide" Target="slides/slide10.xml"/><Relationship Id="rId17" Type="http://schemas.openxmlformats.org/officeDocument/2006/relationships/font" Target="fonts/Tahoma-regular.fntdata"/><Relationship Id="rId16" Type="http://schemas.openxmlformats.org/officeDocument/2006/relationships/font" Target="fonts/Caveat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font" Target="fonts/Tahoma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3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idx="1"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2"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3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2"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2"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3"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4"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2"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3"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4"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5"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6"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4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hyperlink" Target="http://www.chatgpt.com/" TargetMode="External"/><Relationship Id="rId5" Type="http://schemas.openxmlformats.org/officeDocument/2006/relationships/hyperlink" Target="http://www.wikipedia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4400"/>
            <a:ext cx="10080000" cy="57456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0" y="2113560"/>
            <a:ext cx="10080000" cy="166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4800" u="none" cap="none" strike="noStrik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rPr>
              <a:t>Willkommen zu meiner Buchvorstellung</a:t>
            </a:r>
            <a:endParaRPr b="0" i="0" sz="4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0260000" cy="683316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180000" y="13356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2800" u="none" cap="none" strike="noStrike">
                <a:latin typeface="Arial"/>
                <a:ea typeface="Arial"/>
                <a:cs typeface="Arial"/>
                <a:sym typeface="Arial"/>
              </a:rPr>
              <a:t>REAL LIFE – VIEL KRASSER ALS JEDES GAME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108360" y="139176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</a:pPr>
            <a:r>
              <a:rPr b="0" i="0" lang="de-DE" sz="1800" u="none" cap="none" strike="noStrike">
                <a:latin typeface="Arial"/>
                <a:ea typeface="Arial"/>
                <a:cs typeface="Arial"/>
                <a:sym typeface="Arial"/>
              </a:rPr>
              <a:t>104 Seiten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</a:pPr>
            <a:r>
              <a:rPr b="0" i="0" lang="de-DE" sz="1800" u="none" cap="none" strike="noStrike">
                <a:latin typeface="Arial"/>
                <a:ea typeface="Arial"/>
                <a:cs typeface="Arial"/>
                <a:sym typeface="Arial"/>
              </a:rPr>
              <a:t>25 Kapitel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</a:pPr>
            <a:r>
              <a:rPr b="0" i="0" lang="de-DE" sz="1800" u="none" cap="none" strike="noStrike">
                <a:latin typeface="Arial"/>
                <a:ea typeface="Arial"/>
                <a:cs typeface="Arial"/>
                <a:sym typeface="Arial"/>
              </a:rPr>
              <a:t>Action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</a:pPr>
            <a:r>
              <a:rPr b="0" i="0" lang="de-DE" sz="1800" u="none" cap="none" strike="noStrike">
                <a:latin typeface="Arial"/>
                <a:ea typeface="Arial"/>
                <a:cs typeface="Arial"/>
                <a:sym typeface="Arial"/>
              </a:rPr>
              <a:t>Armin Kaster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</a:pPr>
            <a:r>
              <a:rPr b="0" i="0" lang="de-DE" sz="1800" u="none" cap="none" strike="noStrike">
                <a:latin typeface="Arial"/>
                <a:ea typeface="Arial"/>
                <a:cs typeface="Arial"/>
                <a:sym typeface="Arial"/>
              </a:rPr>
              <a:t>Erscheinungsjahr 2018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</a:pPr>
            <a:r>
              <a:rPr b="0" i="0" lang="de-DE" sz="1800" u="none" cap="none" strike="noStrike">
                <a:latin typeface="Arial"/>
                <a:ea typeface="Arial"/>
                <a:cs typeface="Arial"/>
                <a:sym typeface="Arial"/>
              </a:rPr>
              <a:t>Gehört zur Kategorie Jugendbücher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0000" y="1260000"/>
            <a:ext cx="2971800" cy="45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7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3600"/>
            <a:ext cx="10080000" cy="56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Worum geht es in dem Buch?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468350" y="1326600"/>
            <a:ext cx="9071700" cy="41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47500" lnSpcReduction="20000"/>
          </a:bodyPr>
          <a:lstStyle/>
          <a:p>
            <a:pPr indent="-21732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Noto Sans Symbols"/>
              <a:buChar char="∙"/>
            </a:pPr>
            <a:r>
              <a:rPr b="0" i="0" lang="de-DE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Ben, Nino, Jule und Leander sind gute Freunde.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732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Noto Sans Symbols"/>
              <a:buChar char="∙"/>
            </a:pPr>
            <a:r>
              <a:rPr b="0" i="0" lang="de-DE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Sie sind Handyjunkies und große Minecraft-Fans.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732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Noto Sans Symbols"/>
              <a:buChar char="∙"/>
            </a:pPr>
            <a:r>
              <a:rPr b="0" i="0" lang="de-DE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Die vier fahren auf Klassenfahrt in die Eifel.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732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Noto Sans Symbols"/>
              <a:buChar char="∙"/>
            </a:pPr>
            <a:r>
              <a:rPr b="0" i="0" lang="de-DE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Dort gibt es keinen Netzempfang.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732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Noto Sans Symbols"/>
              <a:buChar char="∙"/>
            </a:pPr>
            <a:r>
              <a:rPr b="0" i="0" lang="de-DE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Sie müssen lernen, ohne Handy und Internet auszukommen.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732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Noto Sans Symbols"/>
              <a:buChar char="∙"/>
            </a:pPr>
            <a:r>
              <a:rPr b="0" i="0" lang="de-DE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 Wald verirren sie sich.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732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Noto Sans Symbols"/>
              <a:buChar char="∙"/>
            </a:pPr>
            <a:r>
              <a:rPr b="0" i="0" lang="de-DE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Dabei nutzen sie Überlebensstrategien aus Minecraft.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732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Noto Sans Symbols"/>
              <a:buChar char="∙"/>
            </a:pPr>
            <a:r>
              <a:rPr b="0" i="0" lang="de-DE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Sie haben mit Hunger und Durst zu kämpfen.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732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Noto Sans Symbols"/>
              <a:buChar char="∙"/>
            </a:pPr>
            <a:r>
              <a:rPr b="0" i="0" lang="de-DE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Außerdem kommt es zu einem Unfall.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732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Noto Sans Symbols"/>
              <a:buChar char="∙"/>
            </a:pPr>
            <a:r>
              <a:rPr b="0" i="0" lang="de-DE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Die Freunde erkennen, dass das echte Leben viel schwieriger und gefährlicher ist als ein Computerspiel.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732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Noto Sans Symbols"/>
              <a:buChar char="∙"/>
            </a:pPr>
            <a:r>
              <a:rPr b="0" i="0" lang="de-DE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Sie machen wichtige Erfahrungen und lernen, besser mit Herausforderungen umzugehen.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0080000" cy="6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4400" u="none" cap="none" strike="noStrike">
                <a:latin typeface="Arial"/>
                <a:ea typeface="Arial"/>
                <a:cs typeface="Arial"/>
                <a:sym typeface="Arial"/>
              </a:rPr>
              <a:t>Armin Kaster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0" y="1080000"/>
            <a:ext cx="3996000" cy="46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20000"/>
          </a:bodyPr>
          <a:lstStyle/>
          <a:p>
            <a:pPr indent="-312427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de-DE" sz="1800" u="none" cap="none" strike="noStrike">
                <a:latin typeface="Arial"/>
                <a:ea typeface="Arial"/>
                <a:cs typeface="Arial"/>
                <a:sym typeface="Arial"/>
              </a:rPr>
              <a:t>Armin Kaster wurde am 7. Juli 1969 in Wuppertal geboren.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12427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de-DE" sz="1800" u="none" cap="none" strike="noStrike">
                <a:latin typeface="Arial"/>
                <a:ea typeface="Arial"/>
                <a:cs typeface="Arial"/>
                <a:sym typeface="Arial"/>
              </a:rPr>
              <a:t>Schon als Kind las er Weltliteratur und wollte Schriftsteller werden.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12427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de-DE" sz="1800" u="none" cap="none" strike="noStrike">
                <a:latin typeface="Arial"/>
                <a:ea typeface="Arial"/>
                <a:cs typeface="Arial"/>
                <a:sym typeface="Arial"/>
              </a:rPr>
              <a:t>Er beschäftigte sich zunächst mit Groß- und Außenhandel und Wirtschaftswissenschaft.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12427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de-DE" sz="1800" u="none" cap="none" strike="noStrike">
                <a:latin typeface="Arial"/>
                <a:ea typeface="Arial"/>
                <a:cs typeface="Arial"/>
                <a:sym typeface="Arial"/>
              </a:rPr>
              <a:t>Später wechselte er zur Pädagogik und anschließend zur Kunst.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12427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de-DE" sz="1800" u="none" cap="none" strike="noStrike">
                <a:latin typeface="Arial"/>
                <a:ea typeface="Arial"/>
                <a:cs typeface="Arial"/>
                <a:sym typeface="Arial"/>
              </a:rPr>
              <a:t>Heute arbeitet er als freier Autor und Künstler.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12427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de-DE" sz="1800" u="none" cap="none" strike="noStrike">
                <a:latin typeface="Arial"/>
                <a:ea typeface="Arial"/>
                <a:cs typeface="Arial"/>
                <a:sym typeface="Arial"/>
              </a:rPr>
              <a:t>Er lebt mit seiner Familie in Düsseldorf.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12427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de-DE" sz="1800" u="none" cap="none" strike="noStrike">
                <a:latin typeface="Arial"/>
                <a:ea typeface="Arial"/>
                <a:cs typeface="Arial"/>
                <a:sym typeface="Arial"/>
              </a:rPr>
              <a:t>Seit vielen Jahren führt er literarisch-künstlerische Projekte mit Kindern und Jugendlichen im In- und Ausland durch.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12427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de-DE" sz="1800" u="none" cap="none" strike="noStrike">
                <a:latin typeface="Arial"/>
                <a:ea typeface="Arial"/>
                <a:cs typeface="Arial"/>
                <a:sym typeface="Arial"/>
              </a:rPr>
              <a:t>Besonders interessieren ihn die originellen Lebenswelten junger Menschen.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12427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ct val="45000"/>
              <a:buFont typeface="Noto Sans Symbols"/>
              <a:buChar char="●"/>
            </a:pPr>
            <a:r>
              <a:rPr b="0" i="0" lang="de-DE" sz="1800" u="none" cap="none" strike="noStrike">
                <a:latin typeface="Arial"/>
                <a:ea typeface="Arial"/>
                <a:cs typeface="Arial"/>
                <a:sym typeface="Arial"/>
              </a:rPr>
              <a:t>Diese Eindrücke verarbeitet er gerne in Geschichten.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0000" y="1172520"/>
            <a:ext cx="3304800" cy="3522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0080000" cy="566496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8"/>
          <p:cNvSpPr txBox="1"/>
          <p:nvPr/>
        </p:nvSpPr>
        <p:spPr>
          <a:xfrm>
            <a:off x="4933080" y="1620000"/>
            <a:ext cx="4426920" cy="332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Nebenfiguren: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rPr b="0" i="0" lang="de-DE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Stefan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rPr b="0" i="0" lang="de-DE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Peter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540000" y="180000"/>
            <a:ext cx="9071640" cy="1286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Haupt- und Nebenfiguren</a:t>
            </a:r>
            <a:endParaRPr b="0" i="0" sz="6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8"/>
          <p:cNvSpPr txBox="1"/>
          <p:nvPr/>
        </p:nvSpPr>
        <p:spPr>
          <a:xfrm>
            <a:off x="253080" y="1612440"/>
            <a:ext cx="442692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Hauptfiguren: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rPr b="0" i="0" lang="de-DE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Ben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rPr b="0" i="0" lang="de-DE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Nino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rPr b="0" i="0" lang="de-DE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Jule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spcBef>
                <a:spcPts val="1417"/>
              </a:spcBef>
              <a:spcAft>
                <a:spcPts val="0"/>
              </a:spcAft>
              <a:buNone/>
            </a:pPr>
            <a:r>
              <a:rPr b="0" i="0" lang="de-DE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Leander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4400" u="none" cap="none" strike="noStrike">
                <a:latin typeface="Tahoma"/>
                <a:ea typeface="Tahoma"/>
                <a:cs typeface="Tahoma"/>
                <a:sym typeface="Tahoma"/>
              </a:rPr>
              <a:t>Einer der spannensten Stelle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9"/>
          <p:cNvSpPr txBox="1"/>
          <p:nvPr/>
        </p:nvSpPr>
        <p:spPr>
          <a:xfrm>
            <a:off x="2088360" y="1391760"/>
            <a:ext cx="601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3200" u="none" cap="none" strike="noStrike">
                <a:latin typeface="Arial"/>
                <a:ea typeface="Arial"/>
                <a:cs typeface="Arial"/>
                <a:sym typeface="Arial"/>
              </a:rPr>
              <a:t>Vorlesung der Seiten 44-47 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0000" y="2061360"/>
            <a:ext cx="4140000" cy="3608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0080000" cy="566496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0"/>
          <p:cNvSpPr txBox="1"/>
          <p:nvPr/>
        </p:nvSpPr>
        <p:spPr>
          <a:xfrm>
            <a:off x="360000" y="54000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4200" u="none" cap="none" strike="noStrike">
                <a:solidFill>
                  <a:srgbClr val="000000"/>
                </a:solidFill>
                <a:latin typeface="PMingLiU-ExtB"/>
                <a:ea typeface="PMingLiU-ExtB"/>
                <a:cs typeface="PMingLiU-ExtB"/>
                <a:sym typeface="PMingLiU-ExtB"/>
              </a:rPr>
              <a:t>Warum ich diese Stelle gewählt habe</a:t>
            </a:r>
            <a:endParaRPr b="0" i="0" sz="4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0"/>
          <p:cNvSpPr txBox="1"/>
          <p:nvPr/>
        </p:nvSpPr>
        <p:spPr>
          <a:xfrm>
            <a:off x="2988360" y="2291760"/>
            <a:ext cx="421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16000" lvl="0" marL="216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de-DE" sz="3200" u="none" cap="none" strike="noStrike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Sehr spannend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de-DE" sz="3200" u="none" cap="none" strike="noStrike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Angsteinflößend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de-DE" sz="3200" u="none" cap="none" strike="noStrike">
                <a:solidFill>
                  <a:srgbClr val="000000"/>
                </a:solidFill>
                <a:latin typeface="Caveat"/>
                <a:ea typeface="Caveat"/>
                <a:cs typeface="Caveat"/>
                <a:sym typeface="Caveat"/>
              </a:rPr>
              <a:t>Mitreißend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124560" lvl="0" marL="216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80000"/>
            <a:ext cx="10080000" cy="673308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1"/>
          <p:cNvSpPr txBox="1"/>
          <p:nvPr/>
        </p:nvSpPr>
        <p:spPr>
          <a:xfrm>
            <a:off x="504000" y="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4400" u="none" cap="none" strike="noStrik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rPr>
              <a:t>Fazit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1"/>
          <p:cNvSpPr txBox="1"/>
          <p:nvPr/>
        </p:nvSpPr>
        <p:spPr>
          <a:xfrm>
            <a:off x="540000" y="900000"/>
            <a:ext cx="9071700" cy="48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10000"/>
          </a:bodyPr>
          <a:lstStyle/>
          <a:p>
            <a:pPr indent="-303426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45000"/>
              <a:buFont typeface="Noto Sans Symbols"/>
              <a:buChar char="✔"/>
            </a:pPr>
            <a:r>
              <a:rPr b="0" i="0" lang="de-DE" sz="3200" u="none" cap="none" strike="noStrik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rPr>
              <a:t>Das Buch zeigt, dass das echte Leben schwieriger und spannender als ein Computerspiel sein kann.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03426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0000"/>
              </a:buClr>
              <a:buSzPct val="45000"/>
              <a:buFont typeface="Noto Sans Symbols"/>
              <a:buChar char="✔"/>
            </a:pPr>
            <a:r>
              <a:rPr b="0" i="0" lang="de-DE" sz="3200" u="none" cap="none" strike="noStrik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rPr>
              <a:t>Freundschaft und Zusammenhalt sind sehr wichtig.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03426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0000"/>
              </a:buClr>
              <a:buSzPct val="45000"/>
              <a:buFont typeface="Noto Sans Symbols"/>
              <a:buChar char="✔"/>
            </a:pPr>
            <a:r>
              <a:rPr b="0" i="0" lang="de-DE" sz="3200" u="none" cap="none" strike="noStrik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rPr>
              <a:t>Ben, Nino, Jule und Leander lernen, Herausforderungen gemeinsam zu meistern.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03426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0000"/>
              </a:buClr>
              <a:buSzPct val="45000"/>
              <a:buFont typeface="Noto Sans Symbols"/>
              <a:buChar char="✔"/>
            </a:pPr>
            <a:r>
              <a:rPr b="0" i="0" lang="de-DE" sz="3200" u="none" cap="none" strike="noStrik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rPr>
              <a:t>Das Buch verdeutlicht, dass Handy und Internet nicht das Wichtigste sind.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03426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0000"/>
              </a:buClr>
              <a:buSzPct val="45000"/>
              <a:buFont typeface="Noto Sans Symbols"/>
              <a:buChar char="✔"/>
            </a:pPr>
            <a:r>
              <a:rPr b="0" i="0" lang="de-DE" sz="3200" u="none" cap="none" strike="noStrik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rPr>
              <a:t>Die Geschichte vermittelt wichtige Erfahrungen und Werte.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03426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0000"/>
              </a:buClr>
              <a:buSzPct val="45000"/>
              <a:buFont typeface="Noto Sans Symbols"/>
              <a:buChar char="✔"/>
            </a:pPr>
            <a:r>
              <a:rPr b="0" i="0" lang="de-DE" sz="3200" u="none" cap="none" strike="noStrik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rPr>
              <a:t>Das Buch ist spannend und lehrreich.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03426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0000"/>
              </a:buClr>
              <a:buSzPct val="45000"/>
              <a:buFont typeface="Noto Sans Symbols"/>
              <a:buChar char="✔"/>
            </a:pPr>
            <a:r>
              <a:rPr b="0" i="0" lang="de-DE" sz="3200" u="none" cap="none" strike="noStrik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rPr>
              <a:t>Es eignet sich besonders für Jugendliche, die Computerspiele und Abenteuer mögen.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1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1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8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1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1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1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1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1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11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1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"/>
                                        <p:tgtEl>
                                          <p:spTgt spid="11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0089000" cy="567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2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4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Preis und Ausstellung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2"/>
          <p:cNvSpPr txBox="1"/>
          <p:nvPr/>
        </p:nvSpPr>
        <p:spPr>
          <a:xfrm>
            <a:off x="468360" y="193176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€"/>
            </a:pPr>
            <a:r>
              <a:rPr b="0" i="0" lang="de-DE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Gibt es bei Thalia oder anderen bekannten Bücherläden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€"/>
            </a:pPr>
            <a:r>
              <a:rPr b="0" i="0" lang="de-DE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Ebenfalls online erhältlich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€"/>
            </a:pPr>
            <a:r>
              <a:rPr b="0" i="0" lang="de-DE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Preis: 6,99 €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FFFFFF"/>
              </a:buClr>
              <a:buSzPts val="1440"/>
              <a:buFont typeface="Noto Sans Symbols"/>
              <a:buChar char="€"/>
            </a:pPr>
            <a:r>
              <a:rPr b="0" i="0" lang="de-DE" sz="3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4,5 Sterne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0080000" cy="671256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3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4400" u="none" cap="none" strike="noStrike">
                <a:solidFill>
                  <a:srgbClr val="3465A4"/>
                </a:solidFill>
                <a:latin typeface="Arial"/>
                <a:ea typeface="Arial"/>
                <a:cs typeface="Arial"/>
                <a:sym typeface="Arial"/>
              </a:rPr>
              <a:t>ENDE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3"/>
          <p:cNvSpPr txBox="1"/>
          <p:nvPr/>
        </p:nvSpPr>
        <p:spPr>
          <a:xfrm>
            <a:off x="1620000" y="1260000"/>
            <a:ext cx="684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3200" u="none" cap="none" strike="noStrike">
                <a:solidFill>
                  <a:srgbClr val="F10D0C"/>
                </a:solidFill>
                <a:latin typeface="SimSun"/>
                <a:ea typeface="SimSun"/>
                <a:cs typeface="SimSun"/>
                <a:sym typeface="SimSun"/>
              </a:rPr>
              <a:t>Dankeschön für das Zuhören!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3"/>
          <p:cNvSpPr txBox="1"/>
          <p:nvPr/>
        </p:nvSpPr>
        <p:spPr>
          <a:xfrm>
            <a:off x="2880000" y="4551840"/>
            <a:ext cx="4426920" cy="156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DE" sz="12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www.chatgpt.com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de-DE" sz="1200" u="sng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www.wikipedia.com</a:t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  <a:p>
            <a:pPr indent="-28971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None/>
            </a:pPr>
            <a:r>
              <a:t/>
            </a:r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25"/>
                                        <p:tgtEl>
                                          <p:spTgt spid="1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125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25"/>
                                        <p:tgtEl>
                                          <p:spTgt spid="1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25"/>
                                        <p:tgtEl>
                                          <p:spTgt spid="1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